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0–7 days</c:v>
                  </c:pt>
                  <c:pt idx="1">
                    <c:v>8–14 days</c:v>
                  </c:pt>
                  <c:pt idx="2">
                    <c:v>15–30 days</c:v>
                  </c:pt>
                  <c:pt idx="3">
                    <c:v>31–45 days</c:v>
                  </c:pt>
                  <c:pt idx="4">
                    <c:v>46–60 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29.7</c:v>
                </c:pt>
                <c:pt idx="1">
                  <c:v>35.1</c:v>
                </c:pt>
                <c:pt idx="2">
                  <c:v>45.4</c:v>
                </c:pt>
                <c:pt idx="3">
                  <c:v>57.2</c:v>
                </c:pt>
                <c:pt idx="4">
                  <c:v>71.6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No-show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 prior</c:v>
                  </c:pt>
                  <c:pt idx="1">
                    <c:v>1 prior</c:v>
                  </c:pt>
                  <c:pt idx="2">
                    <c:v>2+ prior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46.3</c:v>
                </c:pt>
                <c:pt idx="1">
                  <c:v>56</c:v>
                </c:pt>
                <c:pt idx="2">
                  <c:v>63.4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reminder</c:v>
                  </c:pt>
                  <c:pt idx="1">
                    <c:v>Reminder sent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54.6</c:v>
                </c:pt>
                <c:pt idx="1">
                  <c:v>49.9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6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Against Missed Appointments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&amp; Decision Support — Week 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Oluwatosin</a:t>
            </a:r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Analytics Track   |   AnalystLab Africa Experience Lab   |   21 Sept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waste clinical capacity that HealthConnect cannot get 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booked appointments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a no-show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2057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once cancellations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set aside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82880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0574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971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appointments are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in advance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46888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no-show is a slot that could have gone to another patient. HealthConnect needs to know which factors actually predict a missed appointment — not guess at them — before it can target any intervention.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 from problem understanding to a validated, decision-ready analysis.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21408" cy="3291840"/>
          </a:xfrm>
          <a:prstGeom prst="roundRect">
            <a:avLst>
              <a:gd name="adj" fmla="val 301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803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HealthConnect problem and this track’s scope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3474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8064" y="2194560"/>
            <a:ext cx="2121408" cy="3291840"/>
          </a:xfrm>
          <a:prstGeom prst="roundRect">
            <a:avLst>
              <a:gd name="adj" fmla="val 301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98064" y="23774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8803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3429000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EDA, first KPIs, first dashboard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3474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7488" y="2194560"/>
            <a:ext cx="2121408" cy="3291840"/>
          </a:xfrm>
          <a:prstGeom prst="roundRect">
            <a:avLst>
              <a:gd name="adj" fmla="val 301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47488" y="23774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8803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3429000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of top findings; fed a feature-relevance file to Data Science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7168896" y="3474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6912" y="2194560"/>
            <a:ext cx="2121408" cy="3291840"/>
          </a:xfrm>
          <a:prstGeom prst="roundRect">
            <a:avLst>
              <a:gd name="adj" fmla="val 3017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96912" y="23774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8803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3429000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Week 6 tests were mis-specified; corrected and reissued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474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46336" y="2194560"/>
            <a:ext cx="2121408" cy="3291840"/>
          </a:xfrm>
          <a:prstGeom prst="roundRect">
            <a:avLst>
              <a:gd name="adj" fmla="val 3017"/>
            </a:avLst>
          </a:prstGeom>
          <a:solidFill>
            <a:srgbClr val="2E7D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46336" y="23774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56064" y="28803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683496" y="3429000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Locked-in KPIs, final dashboard, closed the loop with Data Science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 — Booking Lead Time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· strongest driver · p&lt;0.001 · Cramér's V = 0.285 · holds in 14 of 15 segments tested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031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booked 46–60 days out is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twice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likely to miss their appointment as one booked within a week.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7490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clinic’s single largest, most actionable lever — and it is knowable the moment the appointment is booked, before anything else about the patient is considered.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Prior History &amp; Reminders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confirmed, independent drivers — each holding up under adjustment.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 History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66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 · Cramér's V = 0.122 · second-strongest confirmed driver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82880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5166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OR = 0.810 (p=0.0023) — effect survives controlling for lead time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5623560"/>
            <a:ext cx="11018520" cy="777240"/>
          </a:xfrm>
          <a:prstGeom prst="roundRect">
            <a:avLst>
              <a:gd name="adj" fmla="val 7059"/>
            </a:avLst>
          </a:prstGeom>
          <a:solidFill>
            <a:srgbClr val="DCEDE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5742432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confirmed real: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recipients and non-recipients have almost identical average booking lead times (29.7 vs 29.6 days) — the reminder effect is not just lead time in disguise.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Caught a Real Error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testing found the Week 6 significance tests were specified against the wrong outcome variable.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(reported)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(corrected)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0574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0.197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0574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0.285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11064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6243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 history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243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0.089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6243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0.122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19125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channel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19125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0.043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19125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0.056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11064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7581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75818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0.104 (n.s.)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5818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0.038 (significant)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ranking of features held.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appointment_type had already been reported to the Data Science track as "not statistically significant" — that instruction was wrong, and was corrected and reissued before final integration.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Collaboration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→ Data Science: a corrected, drop-in artefact — not just a conversation.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DCEDE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29968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Re-ran all 5 significance tests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440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Found the test specification error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922776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Corrected effect sizes + Holm adjustment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81144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Reissued HealthConnect_Week7_Feature_Relevance_v2.csv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029968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60604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Received: DS baseline feature set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326440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Provided: corrected p-values &amp; effect sizes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3922776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Provided: adjusted odds ratio for reminder_sent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4581144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Flagged: appointment_type reclassification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80960" y="182880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2029968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0299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260604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ranking preserved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326440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Corrected justification for excluding appointment_type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3922776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Adjusted OR available to defend reminder feature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4581144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 model docs cite accurate statistics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tracks now cite the same, corrected evidence base — instead of two tracks quoting different numbers for the same features.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strength of evidence, not by ease of implementation.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Lead-time-triggered follow-up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562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patients booked 30+ days out before the appointment 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966960" y="15544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77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repeat no-show patients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706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proactive contact for 2+ prior no-shows, identifiable at booking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2468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66960" y="24688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918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reminders as standard practice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6850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real and independent of lead time; don’t deprioritise by channel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66960" y="33832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0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206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appointment-type-specific policy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5994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detectable but practically negligible (pseudo-R² gain 0.0013)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66960" y="42976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0" y="4297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120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randomised reminder pilot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5138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findings are observational — a pilot would establish causation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66960" y="5212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66960" y="5212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direct about what this analysis cannot yet tell HealthConnect.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1920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Observational, not causal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intervention has been tested. Associations don’t prove that changing policy changes behaviour.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828800"/>
            <a:ext cx="82296" cy="1920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0116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Small-segment power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under ~150 records (e.g. one gender category) can’t reliably confirm effects this size.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77640"/>
            <a:ext cx="82296" cy="1920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ceiling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634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0.285 is a small-to-moderate effect. These features alone won’t drive high model accuracy.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3977640"/>
            <a:ext cx="82296" cy="1920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160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realism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6634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48–51% no-show rate is far higher than a real clinic’s. Read results as methodology, not literal figures.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· Week 8 Final Analytics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96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doesn’t need more data to act — it needs to act on booking lead time, its largest and most consistently validated lever, while continuing reminders and repeat-no-show flagging as supporting measures.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9692640" cy="1371600"/>
          </a:xfrm>
          <a:prstGeom prst="roundRect">
            <a:avLst>
              <a:gd name="adj" fmla="val 4667"/>
            </a:avLst>
          </a:prstGeom>
          <a:solidFill>
            <a:srgbClr val="2A3F6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977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my own Week 6 work caught a real statistical error before it reached the final model — the corrected findings are stronger than originally reported, not weaker.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Moses Oluwatosin  |  Data Analytics Track  |  AnalystLab Africa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2026-09-24T18:20:16Z</dcterms:created>
  <dcterms:modified xsi:type="dcterms:W3CDTF">2026-09-24T18:20:16Z</dcterms:modified>
</cp:coreProperties>
</file>